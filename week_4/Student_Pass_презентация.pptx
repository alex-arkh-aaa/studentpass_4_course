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7" r:id="rId10"/>
    <p:sldId id="268" r:id="rId11"/>
    <p:sldId id="269" r:id="rId12"/>
    <p:sldId id="273" r:id="rId13"/>
    <p:sldId id="27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F7F5FC"/>
                </a:solidFill>
                <a:latin typeface="Aptos"/>
              </a:rPr>
              <a:t>STUDENT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011680"/>
            <a:ext cx="9784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A69EB8"/>
                </a:solidFill>
                <a:latin typeface="Aptos"/>
              </a:rPr>
              <a:t>Цифровая платформа для студентов,
которая объединяет выгоды, скидки и предложения бизнеса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794760"/>
            <a:ext cx="9875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200" b="1" dirty="0">
                <a:solidFill>
                  <a:srgbClr val="F7F5FC"/>
                </a:solidFill>
                <a:latin typeface="Arial Black" panose="020B0A04020102020204" pitchFamily="34" charset="0"/>
              </a:rPr>
              <a:t>НАЧНИ ЭКОНОМИТЬ ПРЯМО СЕЙЧАС</a:t>
            </a:r>
            <a:endParaRPr sz="2200" b="1" dirty="0">
              <a:solidFill>
                <a:srgbClr val="F7F5FC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9EB8"/>
                </a:solidFill>
                <a:latin typeface="Aptos"/>
              </a:rPr>
              <a:t>STUDENT PASS  •  Бизнес-модель проекта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69EB8"/>
                </a:solidFill>
                <a:latin typeface="Aptos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789920" y="5303520"/>
            <a:ext cx="1737360" cy="173736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-731520" y="5394960"/>
            <a:ext cx="1371600" cy="137160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59" y="1078991"/>
            <a:ext cx="3722001" cy="45719"/>
          </a:xfrm>
          <a:prstGeom prst="rect">
            <a:avLst/>
          </a:prstGeom>
          <a:solidFill>
            <a:srgbClr val="9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110832" y="2994660"/>
            <a:ext cx="2935224" cy="3154680"/>
          </a:xfrm>
          <a:prstGeom prst="ellipse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542047" y="3343666"/>
            <a:ext cx="2182056" cy="2220274"/>
          </a:xfrm>
          <a:prstGeom prst="ellipse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059231" y="3995235"/>
            <a:ext cx="1038426" cy="942525"/>
          </a:xfrm>
          <a:prstGeom prst="ellipse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658368"/>
            <a:ext cx="2011680" cy="347472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Aptos"/>
              </a:rPr>
              <a:t>STARTUP</a:t>
            </a:r>
            <a:r>
              <a:rPr sz="900" b="1" dirty="0">
                <a:solidFill>
                  <a:schemeClr val="bg1"/>
                </a:solidFill>
                <a:latin typeface="Apto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326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 err="1">
                <a:solidFill>
                  <a:srgbClr val="F7F5FC"/>
                </a:solidFill>
                <a:latin typeface="Aptos"/>
              </a:rPr>
              <a:t>Проблема</a:t>
            </a:r>
            <a:endParaRPr sz="2800" b="1" dirty="0">
              <a:solidFill>
                <a:srgbClr val="F7F5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62875"/>
            <a:ext cx="10789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A69EB8"/>
                </a:solidFill>
                <a:latin typeface="Aptos"/>
              </a:rPr>
              <a:t>Почему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студенту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нужен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единый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Student Pass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508" y="1417320"/>
            <a:ext cx="3906012" cy="425196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556" y="171523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 err="1">
                <a:solidFill>
                  <a:srgbClr val="F7F5FC"/>
                </a:solidFill>
                <a:latin typeface="Aptos"/>
              </a:rPr>
              <a:t>Фрагментированный</a:t>
            </a:r>
            <a:r>
              <a:rPr sz="17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7F5FC"/>
                </a:solidFill>
                <a:latin typeface="Aptos"/>
              </a:rPr>
              <a:t>рынок</a:t>
            </a:r>
            <a:endParaRPr sz="1700" b="1" dirty="0">
              <a:solidFill>
                <a:srgbClr val="F7F5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1" y="2075688"/>
            <a:ext cx="35963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 err="1">
                <a:solidFill>
                  <a:srgbClr val="A69EB8"/>
                </a:solidFill>
                <a:latin typeface="Aptos"/>
              </a:rPr>
              <a:t>Скидки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 и </a:t>
            </a:r>
            <a:r>
              <a:rPr sz="2400" b="0" dirty="0" err="1">
                <a:solidFill>
                  <a:srgbClr val="A69EB8"/>
                </a:solidFill>
                <a:latin typeface="Aptos"/>
              </a:rPr>
              <a:t>специальные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A69EB8"/>
                </a:solidFill>
                <a:latin typeface="Aptos"/>
              </a:rPr>
              <a:t>предложения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A69EB8"/>
                </a:solidFill>
                <a:latin typeface="Aptos"/>
              </a:rPr>
              <a:t>разбросаны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A69EB8"/>
                </a:solidFill>
                <a:latin typeface="Aptos"/>
              </a:rPr>
              <a:t>по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A69EB8"/>
                </a:solidFill>
                <a:latin typeface="Aptos"/>
              </a:rPr>
              <a:t>разным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A69EB8"/>
                </a:solidFill>
                <a:latin typeface="Aptos"/>
              </a:rPr>
              <a:t>сервисам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, </a:t>
            </a:r>
            <a:r>
              <a:rPr sz="2400" b="0" dirty="0" err="1">
                <a:solidFill>
                  <a:srgbClr val="A69EB8"/>
                </a:solidFill>
                <a:latin typeface="Aptos"/>
              </a:rPr>
              <a:t>соцсетям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 и </a:t>
            </a:r>
            <a:r>
              <a:rPr sz="2400" b="0" dirty="0" err="1">
                <a:solidFill>
                  <a:srgbClr val="A69EB8"/>
                </a:solidFill>
                <a:latin typeface="Aptos"/>
              </a:rPr>
              <a:t>сайтам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. </a:t>
            </a:r>
            <a:r>
              <a:rPr sz="2400" b="0" dirty="0" err="1">
                <a:solidFill>
                  <a:srgbClr val="A69EB8"/>
                </a:solidFill>
                <a:latin typeface="Aptos"/>
              </a:rPr>
              <a:t>Пользователь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A69EB8"/>
                </a:solidFill>
                <a:latin typeface="Aptos"/>
              </a:rPr>
              <a:t>тратит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A69EB8"/>
                </a:solidFill>
                <a:latin typeface="Aptos"/>
              </a:rPr>
              <a:t>время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A69EB8"/>
                </a:solidFill>
                <a:latin typeface="Aptos"/>
              </a:rPr>
              <a:t>на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400" b="0" dirty="0" err="1">
                <a:solidFill>
                  <a:srgbClr val="A69EB8"/>
                </a:solidFill>
                <a:latin typeface="Aptos"/>
              </a:rPr>
              <a:t>поиск</a:t>
            </a:r>
            <a:r>
              <a:rPr sz="2400" b="0" dirty="0">
                <a:solidFill>
                  <a:srgbClr val="A69EB8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425196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8636" y="168780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 err="1">
                <a:solidFill>
                  <a:srgbClr val="F7F5FC"/>
                </a:solidFill>
                <a:latin typeface="Aptos"/>
              </a:rPr>
              <a:t>Студенческий</a:t>
            </a:r>
            <a:r>
              <a:rPr sz="17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7F5FC"/>
                </a:solidFill>
                <a:latin typeface="Aptos"/>
              </a:rPr>
              <a:t>бюджет</a:t>
            </a:r>
            <a:endParaRPr sz="1700" b="1" dirty="0">
              <a:solidFill>
                <a:srgbClr val="F7F5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02175" y="2277249"/>
            <a:ext cx="31089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A69EB8"/>
                </a:solidFill>
                <a:latin typeface="Aptos"/>
              </a:rPr>
              <a:t>Студенты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чувствительны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к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цене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и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регулярно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ищут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способы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экономить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на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повседневных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расходах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,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досуге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,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обучении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и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сервисах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520440" cy="425196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8532" y="1558413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 err="1">
                <a:solidFill>
                  <a:srgbClr val="F7F5FC"/>
                </a:solidFill>
                <a:latin typeface="Aptos"/>
              </a:rPr>
              <a:t>Бизнесу</a:t>
            </a:r>
            <a:r>
              <a:rPr sz="17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7F5FC"/>
                </a:solidFill>
                <a:latin typeface="Aptos"/>
              </a:rPr>
              <a:t>сложно</a:t>
            </a:r>
            <a:r>
              <a:rPr sz="17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F7F5FC"/>
                </a:solidFill>
                <a:latin typeface="Aptos"/>
              </a:rPr>
              <a:t>достучаться</a:t>
            </a:r>
            <a:endParaRPr sz="1700" b="1" dirty="0">
              <a:solidFill>
                <a:srgbClr val="F7F5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52651" y="2286000"/>
            <a:ext cx="31089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A69EB8"/>
                </a:solidFill>
                <a:latin typeface="Aptos"/>
              </a:rPr>
              <a:t>Локальным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компаниям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нужен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понятный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канал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привлечения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молодой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аудитории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и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измеримый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результат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от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специальных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предложений</a:t>
            </a:r>
            <a:r>
              <a:rPr sz="1200" b="0" dirty="0">
                <a:solidFill>
                  <a:srgbClr val="A69EB8"/>
                </a:solidFill>
                <a:latin typeface="Apto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9EB8"/>
                </a:solidFill>
                <a:latin typeface="Aptos"/>
              </a:rPr>
              <a:t>STUDENT PASS  •  Бизнес-модель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69EB8"/>
                </a:solidFill>
                <a:latin typeface="Aptos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789920" y="5303520"/>
            <a:ext cx="1737360" cy="173736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-731520" y="5394960"/>
            <a:ext cx="1371600" cy="137160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 flipV="1">
            <a:off x="547116" y="1297336"/>
            <a:ext cx="5332574" cy="45719"/>
          </a:xfrm>
          <a:prstGeom prst="rect">
            <a:avLst/>
          </a:prstGeom>
          <a:solidFill>
            <a:srgbClr val="9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58767" y="1591621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8932" y="1515839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1627632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1673352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1627632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1673352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5FC"/>
                </a:solidFill>
                <a:latin typeface="Aptos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33039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A69EB8"/>
                </a:solidFill>
                <a:latin typeface="Aptos"/>
              </a:rPr>
              <a:t>Student Pass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соединяет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две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стороны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рынка</a:t>
            </a:r>
            <a:endParaRPr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37560" cy="425196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25196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31037" y="1655064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F7F5FC"/>
                </a:solidFill>
                <a:latin typeface="Aptos"/>
              </a:rPr>
              <a:t>СТУДЕНТ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29260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A69EB8"/>
                </a:solidFill>
                <a:latin typeface="Aptos"/>
              </a:rPr>
              <a:t>Один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аккаунт</a:t>
            </a:r>
            <a:r>
              <a:rPr b="0" dirty="0">
                <a:solidFill>
                  <a:srgbClr val="A69EB8"/>
                </a:solidFill>
                <a:latin typeface="Aptos"/>
              </a:rPr>
              <a:t> →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доступ</a:t>
            </a:r>
            <a:r>
              <a:rPr b="0" dirty="0">
                <a:solidFill>
                  <a:srgbClr val="A69EB8"/>
                </a:solidFill>
                <a:latin typeface="Aptos"/>
              </a:rPr>
              <a:t> к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предложениям</a:t>
            </a:r>
            <a:r>
              <a:rPr b="0" dirty="0">
                <a:solidFill>
                  <a:srgbClr val="A69EB8"/>
                </a:solidFill>
                <a:latin typeface="Aptos"/>
              </a:rPr>
              <a:t> →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экономия</a:t>
            </a:r>
            <a:r>
              <a:rPr b="0" dirty="0">
                <a:solidFill>
                  <a:srgbClr val="A69EB8"/>
                </a:solidFill>
                <a:latin typeface="Aptos"/>
              </a:rPr>
              <a:t> →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персональные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рекомендации</a:t>
            </a:r>
            <a:r>
              <a:rPr b="0" dirty="0">
                <a:solidFill>
                  <a:srgbClr val="A69EB8"/>
                </a:solidFill>
                <a:latin typeface="Aptos"/>
              </a:rPr>
              <a:t> →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удобный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цифровой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сервис</a:t>
            </a:r>
            <a:r>
              <a:rPr b="0" dirty="0">
                <a:solidFill>
                  <a:srgbClr val="A69EB8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5196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425196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05096" y="1689182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F7F5FC"/>
                </a:solidFill>
                <a:latin typeface="Aptos"/>
              </a:rPr>
              <a:t>STUDENT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75688"/>
            <a:ext cx="29260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A69EB8"/>
                </a:solidFill>
                <a:latin typeface="Aptos"/>
              </a:rPr>
              <a:t>Платформа</a:t>
            </a:r>
            <a:r>
              <a:rPr b="0" dirty="0">
                <a:solidFill>
                  <a:srgbClr val="A69EB8"/>
                </a:solidFill>
                <a:latin typeface="Aptos"/>
              </a:rPr>
              <a:t> →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идентификация</a:t>
            </a:r>
            <a:r>
              <a:rPr b="0" dirty="0">
                <a:solidFill>
                  <a:srgbClr val="A69EB8"/>
                </a:solidFill>
                <a:latin typeface="Aptos"/>
              </a:rPr>
              <a:t> →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каталог</a:t>
            </a:r>
            <a:r>
              <a:rPr b="0" dirty="0">
                <a:solidFill>
                  <a:srgbClr val="A69EB8"/>
                </a:solidFill>
                <a:latin typeface="Aptos"/>
              </a:rPr>
              <a:t> →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подписка</a:t>
            </a:r>
            <a:r>
              <a:rPr b="0" dirty="0">
                <a:solidFill>
                  <a:srgbClr val="A69EB8"/>
                </a:solidFill>
                <a:latin typeface="Aptos"/>
              </a:rPr>
              <a:t> →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аналитика</a:t>
            </a:r>
            <a:r>
              <a:rPr b="0" dirty="0">
                <a:solidFill>
                  <a:srgbClr val="A69EB8"/>
                </a:solidFill>
                <a:latin typeface="Aptos"/>
              </a:rPr>
              <a:t> →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коммуникация</a:t>
            </a:r>
            <a:r>
              <a:rPr b="0" dirty="0">
                <a:solidFill>
                  <a:srgbClr val="A69EB8"/>
                </a:solidFill>
                <a:latin typeface="Aptos"/>
              </a:rPr>
              <a:t> с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аудиторией</a:t>
            </a:r>
            <a:r>
              <a:rPr b="0" dirty="0">
                <a:solidFill>
                  <a:srgbClr val="A69EB8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337560" cy="425196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425196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43416" y="160020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F7F5FC"/>
                </a:solidFill>
                <a:latin typeface="Aptos"/>
              </a:rPr>
              <a:t>ПАРТНЁР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75688"/>
            <a:ext cx="292607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A69EB8"/>
                </a:solidFill>
                <a:latin typeface="Aptos"/>
              </a:rPr>
              <a:t>Новая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аудитория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→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специальное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предложение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→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привлечение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→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повторные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покупки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→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аналитика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7F5FC"/>
                </a:solidFill>
                <a:latin typeface="Aptos"/>
              </a:rPr>
              <a:t>Ключевая идея: подписка пользователя — не единственный источник дохода.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9EB8"/>
                </a:solidFill>
                <a:latin typeface="Aptos"/>
              </a:rPr>
              <a:t>STUDENT PASS  •  Бизнес-модель проекта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69EB8"/>
                </a:solidFill>
                <a:latin typeface="Aptos"/>
              </a:rPr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89920" y="5303520"/>
            <a:ext cx="1737360" cy="173736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-731520" y="5394960"/>
            <a:ext cx="1371600" cy="137160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942" y="1216151"/>
            <a:ext cx="4649429" cy="45719"/>
          </a:xfrm>
          <a:prstGeom prst="rect">
            <a:avLst/>
          </a:prstGeom>
          <a:solidFill>
            <a:srgbClr val="9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37261" y="1600200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6989" y="1594497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dirty="0">
                <a:solidFill>
                  <a:srgbClr val="974CFF"/>
                </a:solidFill>
                <a:latin typeface="Aptos Display"/>
              </a:rPr>
              <a:t>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30501" y="1600200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86884" y="1634318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1545336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04504" y="1645920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dirty="0">
                <a:solidFill>
                  <a:srgbClr val="974CFF"/>
                </a:solidFill>
                <a:latin typeface="Aptos Display"/>
              </a:rPr>
              <a:t>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5FC"/>
                </a:solidFill>
                <a:latin typeface="Aptos"/>
              </a:rPr>
              <a:t>Целевая аудитория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66160" cy="448056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4733" y="170992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 err="1">
                <a:solidFill>
                  <a:srgbClr val="F7F5FC"/>
                </a:solidFill>
                <a:latin typeface="Aptos"/>
              </a:rPr>
              <a:t>Основная</a:t>
            </a:r>
            <a:r>
              <a:rPr sz="1700" b="1" dirty="0">
                <a:solidFill>
                  <a:srgbClr val="F7F5FC"/>
                </a:solidFill>
                <a:latin typeface="Aptos"/>
              </a:rPr>
              <a:t> B2C-аудитория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235708"/>
            <a:ext cx="31546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A69EB8"/>
                </a:solidFill>
                <a:latin typeface="Aptos"/>
              </a:rPr>
              <a:t>Студенты</a:t>
            </a:r>
            <a:r>
              <a:rPr b="0" dirty="0">
                <a:solidFill>
                  <a:srgbClr val="A69EB8"/>
                </a:solidFill>
                <a:latin typeface="Aptos"/>
              </a:rPr>
              <a:t> 17–25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лет</a:t>
            </a:r>
            <a:r>
              <a:rPr b="0" dirty="0">
                <a:solidFill>
                  <a:srgbClr val="A69EB8"/>
                </a:solidFill>
                <a:latin typeface="Aptos"/>
              </a:rPr>
              <a:t>
•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активно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пользуются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смартфоном</a:t>
            </a:r>
            <a:r>
              <a:rPr b="0" dirty="0">
                <a:solidFill>
                  <a:srgbClr val="A69EB8"/>
                </a:solidFill>
                <a:latin typeface="Aptos"/>
              </a:rPr>
              <a:t>
•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чувствительны</a:t>
            </a:r>
            <a:r>
              <a:rPr b="0" dirty="0">
                <a:solidFill>
                  <a:srgbClr val="A69EB8"/>
                </a:solidFill>
                <a:latin typeface="Aptos"/>
              </a:rPr>
              <a:t> к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цене</a:t>
            </a:r>
            <a:r>
              <a:rPr b="0" dirty="0">
                <a:solidFill>
                  <a:srgbClr val="A69EB8"/>
                </a:solidFill>
                <a:latin typeface="Aptos"/>
              </a:rPr>
              <a:t>
•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готовы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пробовать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новые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сервисы</a:t>
            </a:r>
            <a:r>
              <a:rPr b="0" dirty="0">
                <a:solidFill>
                  <a:srgbClr val="A69EB8"/>
                </a:solidFill>
                <a:latin typeface="Aptos"/>
              </a:rPr>
              <a:t>
•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ценят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скидки</a:t>
            </a:r>
            <a:r>
              <a:rPr b="0" dirty="0">
                <a:solidFill>
                  <a:srgbClr val="A69EB8"/>
                </a:solidFill>
                <a:latin typeface="Aptos"/>
              </a:rPr>
              <a:t> и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персональные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предложения</a:t>
            </a:r>
            <a:endParaRPr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15968" y="1371600"/>
            <a:ext cx="3566160" cy="448056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15968" y="1371600"/>
            <a:ext cx="73152" cy="448056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57216" y="1628615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F7F5FC"/>
                </a:solidFill>
                <a:latin typeface="Aptos"/>
              </a:rPr>
              <a:t>B2B-партнёры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5123" y="2286000"/>
            <a:ext cx="31546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A69EB8"/>
                </a:solidFill>
                <a:latin typeface="Aptos"/>
              </a:rPr>
              <a:t>Кафе</a:t>
            </a:r>
            <a:r>
              <a:rPr b="0" dirty="0">
                <a:solidFill>
                  <a:srgbClr val="A69EB8"/>
                </a:solidFill>
                <a:latin typeface="Aptos"/>
              </a:rPr>
              <a:t> •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рестораны</a:t>
            </a:r>
            <a:r>
              <a:rPr b="0" dirty="0">
                <a:solidFill>
                  <a:srgbClr val="A69EB8"/>
                </a:solidFill>
                <a:latin typeface="Aptos"/>
              </a:rPr>
              <a:t> •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фитнес</a:t>
            </a:r>
            <a:r>
              <a:rPr b="0" dirty="0">
                <a:solidFill>
                  <a:srgbClr val="A69EB8"/>
                </a:solidFill>
                <a:latin typeface="Aptos"/>
              </a:rPr>
              <a:t> •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образование</a:t>
            </a:r>
            <a:r>
              <a:rPr b="0" dirty="0">
                <a:solidFill>
                  <a:srgbClr val="A69EB8"/>
                </a:solidFill>
                <a:latin typeface="Aptos"/>
              </a:rPr>
              <a:t> •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развлечения</a:t>
            </a:r>
            <a:r>
              <a:rPr b="0" dirty="0">
                <a:solidFill>
                  <a:srgbClr val="A69EB8"/>
                </a:solidFill>
                <a:latin typeface="Aptos"/>
              </a:rPr>
              <a:t> •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магазины</a:t>
            </a:r>
            <a:r>
              <a:rPr b="0" dirty="0">
                <a:solidFill>
                  <a:srgbClr val="A69EB8"/>
                </a:solidFill>
                <a:latin typeface="Aptos"/>
              </a:rPr>
              <a:t> •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сервисы</a:t>
            </a:r>
            <a:r>
              <a:rPr b="0" dirty="0">
                <a:solidFill>
                  <a:srgbClr val="A69EB8"/>
                </a:solidFill>
                <a:latin typeface="Aptos"/>
              </a:rPr>
              <a:t> •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локальный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бизнес</a:t>
            </a:r>
            <a:r>
              <a:rPr b="0" dirty="0">
                <a:solidFill>
                  <a:srgbClr val="A69EB8"/>
                </a:solidFill>
                <a:latin typeface="Aptos"/>
              </a:rPr>
              <a:t>
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Главная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ценность</a:t>
            </a:r>
            <a:r>
              <a:rPr b="0" dirty="0">
                <a:solidFill>
                  <a:srgbClr val="A69EB8"/>
                </a:solidFill>
                <a:latin typeface="Aptos"/>
              </a:rPr>
              <a:t> —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доступ</a:t>
            </a:r>
            <a:r>
              <a:rPr b="0" dirty="0">
                <a:solidFill>
                  <a:srgbClr val="A69EB8"/>
                </a:solidFill>
                <a:latin typeface="Aptos"/>
              </a:rPr>
              <a:t> к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концентрированной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студенческой</a:t>
            </a:r>
            <a:r>
              <a:rPr b="0" dirty="0">
                <a:solidFill>
                  <a:srgbClr val="A69EB8"/>
                </a:solidFill>
                <a:latin typeface="Aptos"/>
              </a:rPr>
              <a:t> </a:t>
            </a:r>
            <a:r>
              <a:rPr b="0" dirty="0" err="1">
                <a:solidFill>
                  <a:srgbClr val="A69EB8"/>
                </a:solidFill>
                <a:latin typeface="Aptos"/>
              </a:rPr>
              <a:t>аудитории</a:t>
            </a:r>
            <a:r>
              <a:rPr b="0" dirty="0">
                <a:solidFill>
                  <a:srgbClr val="A69EB8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371600"/>
            <a:ext cx="3566160" cy="448056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91856" y="1371600"/>
            <a:ext cx="73152" cy="448056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20176" y="1699801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 err="1">
                <a:solidFill>
                  <a:srgbClr val="F7F5FC"/>
                </a:solidFill>
                <a:latin typeface="Aptos"/>
              </a:rPr>
              <a:t>Партнёры-организации</a:t>
            </a:r>
            <a:endParaRPr sz="1700" b="1" dirty="0">
              <a:solidFill>
                <a:srgbClr val="F7F5F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34172" y="2337619"/>
            <a:ext cx="31546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A69EB8"/>
                </a:solidFill>
                <a:latin typeface="Aptos"/>
              </a:rPr>
              <a:t>Вузы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•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студенческие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организации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•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сообщества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•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мероприятия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
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Канал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масштабирования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: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подключение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групп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пользователей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через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A69EB8"/>
                </a:solidFill>
                <a:latin typeface="Aptos"/>
              </a:rPr>
              <a:t>организации</a:t>
            </a:r>
            <a:r>
              <a:rPr sz="2000" b="0" dirty="0">
                <a:solidFill>
                  <a:srgbClr val="A69EB8"/>
                </a:solidFill>
                <a:latin typeface="Apto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9EB8"/>
                </a:solidFill>
                <a:latin typeface="Aptos"/>
              </a:rPr>
              <a:t>STUDENT PASS  •  Бизнес-модель проекта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69EB8"/>
                </a:solidFill>
                <a:latin typeface="Aptos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789920" y="5303520"/>
            <a:ext cx="1737360" cy="173736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-731520" y="5394960"/>
            <a:ext cx="1371600" cy="137160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1078992"/>
            <a:ext cx="960120" cy="32004"/>
          </a:xfrm>
          <a:prstGeom prst="rect">
            <a:avLst/>
          </a:prstGeom>
          <a:solidFill>
            <a:srgbClr val="9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8680" y="1627632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1673352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1627632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1673352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1627632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1673352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5FC"/>
                </a:solidFill>
                <a:latin typeface="Aptos"/>
              </a:rPr>
              <a:t>Как работает продукт</a:t>
            </a:r>
          </a:p>
        </p:txBody>
      </p:sp>
      <p:sp>
        <p:nvSpPr>
          <p:cNvPr id="4" name="Oval 3"/>
          <p:cNvSpPr/>
          <p:nvPr/>
        </p:nvSpPr>
        <p:spPr>
          <a:xfrm>
            <a:off x="1280160" y="1508760"/>
            <a:ext cx="731520" cy="7315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7F5FC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7F5FC"/>
                </a:solidFill>
                <a:latin typeface="Aptos"/>
              </a:rPr>
              <a:t>Регистрация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011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A69EB8"/>
                </a:solidFill>
                <a:latin typeface="Aptos"/>
              </a:rPr>
              <a:t>Создание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аккаунта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и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подтверждение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статуса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студента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3547872" y="1508760"/>
            <a:ext cx="731520" cy="7315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7872" y="1664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7F5F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1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7F5FC"/>
                </a:solidFill>
                <a:latin typeface="Aptos"/>
              </a:rPr>
              <a:t>Выбор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1" y="2926080"/>
            <a:ext cx="2011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A69EB8"/>
                </a:solidFill>
                <a:latin typeface="Aptos"/>
              </a:rPr>
              <a:t>Каталог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предложений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и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категорий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815584" y="1508760"/>
            <a:ext cx="731520" cy="7315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15584" y="1664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7F5FC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7F5FC"/>
                </a:solidFill>
                <a:latin typeface="Aptos"/>
              </a:rPr>
              <a:t>Доступ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2926080"/>
            <a:ext cx="20116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A69EB8"/>
                </a:solidFill>
                <a:latin typeface="Aptos"/>
              </a:rPr>
              <a:t>Использование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скидки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/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привилегии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по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условиям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партнёра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083295" y="1508760"/>
            <a:ext cx="731520" cy="7315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83295" y="1664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7F5FC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5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7F5FC"/>
                </a:solidFill>
                <a:latin typeface="Aptos"/>
              </a:rPr>
              <a:t>Подписка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5" y="2926080"/>
            <a:ext cx="2011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A69EB8"/>
                </a:solidFill>
                <a:latin typeface="Aptos"/>
              </a:rPr>
              <a:t>Премиум-доступ к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расширенному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набору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выгод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351007" y="1508760"/>
            <a:ext cx="731520" cy="7315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51007" y="1664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7F5FC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7F5FC"/>
                </a:solidFill>
                <a:latin typeface="Aptos"/>
              </a:rPr>
              <a:t>Повтор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2926080"/>
            <a:ext cx="2011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A69EB8"/>
                </a:solidFill>
                <a:latin typeface="Aptos"/>
              </a:rPr>
              <a:t>Персональные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предложения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и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новые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партнёры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7F5FC"/>
                </a:solidFill>
                <a:latin typeface="Aptos"/>
              </a:rPr>
              <a:t>Цель воронки: бесплатный пользователь → активный пользователь → платный подписчик → лояльный пользователь.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9EB8"/>
                </a:solidFill>
                <a:latin typeface="Aptos"/>
              </a:rPr>
              <a:t>STUDENT PASS  •  Бизнес-модель проекта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69EB8"/>
                </a:solidFill>
                <a:latin typeface="Aptos"/>
              </a:rPr>
              <a:t>5</a:t>
            </a:r>
          </a:p>
        </p:txBody>
      </p:sp>
      <p:sp>
        <p:nvSpPr>
          <p:cNvPr id="28" name="Oval 27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89920" y="5303520"/>
            <a:ext cx="1737360" cy="173736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-731520" y="5394960"/>
            <a:ext cx="1371600" cy="137160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1078992"/>
            <a:ext cx="960120" cy="32004"/>
          </a:xfrm>
          <a:prstGeom prst="rect">
            <a:avLst/>
          </a:prstGeom>
          <a:solidFill>
            <a:srgbClr val="9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261872" y="1627632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61872" y="1673352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9584" y="1627632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29584" y="1673352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97296" y="1627632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97296" y="1673352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5008" y="1627632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65008" y="1673352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20" y="1627632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32720" y="1673352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5FC"/>
                </a:solidFill>
                <a:latin typeface="Aptos"/>
              </a:rPr>
              <a:t>Бизнес-модель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9EB8"/>
                </a:solidFill>
                <a:latin typeface="Aptos"/>
              </a:rPr>
              <a:t>Четыре источника выручки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03520" cy="201168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201168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7F5FC"/>
                </a:solidFill>
                <a:latin typeface="Aptos"/>
              </a:rPr>
              <a:t>1. Подписка B2C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9EB8"/>
                </a:solidFill>
                <a:latin typeface="Aptos"/>
              </a:rPr>
              <a:t>Ежемесячная и годовая подписка студентов. Предсказуемая recurring-выручка.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201168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201168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7F5FC"/>
                </a:solidFill>
                <a:latin typeface="Aptos"/>
              </a:rPr>
              <a:t>2. Партнёрские размещения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8424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9EB8"/>
                </a:solidFill>
                <a:latin typeface="Aptos"/>
              </a:rPr>
              <a:t>Бизнес платит за продвижение предложения, присутствие в каталоге и дополнительные рекламные форматы.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5303520" cy="201168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73152" cy="201168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7F5FC"/>
                </a:solidFill>
                <a:latin typeface="Aptos"/>
              </a:rPr>
              <a:t>3. Комиссионная модель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2452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9EB8"/>
                </a:solidFill>
                <a:latin typeface="Aptos"/>
              </a:rPr>
              <a:t>При подходящем сценарии — комиссия за подтверждённую покупку/лид, а не только фиксированная реклама.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566160"/>
            <a:ext cx="5303520" cy="201168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3566160"/>
            <a:ext cx="73152" cy="201168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76732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7F5FC"/>
                </a:solidFill>
                <a:latin typeface="Aptos"/>
              </a:rPr>
              <a:t>4. B2B/B2B2C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2452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9EB8"/>
                </a:solidFill>
                <a:latin typeface="Aptos"/>
              </a:rPr>
              <a:t>Пакетный доступ для вузов, организаций и студенческих сообществ; корпоративные кампании.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9EB8"/>
                </a:solidFill>
                <a:latin typeface="Aptos"/>
              </a:rPr>
              <a:t>STUDENT PASS  •  Бизнес-модель проекта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69EB8"/>
                </a:solidFill>
                <a:latin typeface="Aptos"/>
              </a:rP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789920" y="5303520"/>
            <a:ext cx="1737360" cy="173736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-731520" y="5394960"/>
            <a:ext cx="1371600" cy="137160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9502" y="1187073"/>
            <a:ext cx="960120" cy="32004"/>
          </a:xfrm>
          <a:prstGeom prst="rect">
            <a:avLst/>
          </a:prstGeom>
          <a:solidFill>
            <a:srgbClr val="9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5FC"/>
                </a:solidFill>
                <a:latin typeface="Aptos"/>
              </a:rPr>
              <a:t>Тарифная линейка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9EB8"/>
                </a:solidFill>
                <a:latin typeface="Aptos"/>
              </a:rPr>
              <a:t>Цена должна объясняться экономикой продукта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148840" cy="448056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572768"/>
            <a:ext cx="1819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7F5FC"/>
                </a:solidFill>
                <a:latin typeface="Aptos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93392"/>
            <a:ext cx="1819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7F5FC"/>
                </a:solidFill>
                <a:latin typeface="Aptos"/>
              </a:rPr>
              <a:t>0 ₽/мес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6916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A69EB8"/>
                </a:solidFill>
                <a:latin typeface="Aptos"/>
              </a:rPr>
              <a:t>Базовый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каталог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часть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предложений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стандартные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условия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без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премиальных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выгод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80360" y="1325880"/>
            <a:ext cx="2606040" cy="448056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44952" y="1572768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dirty="0">
                <a:solidFill>
                  <a:srgbClr val="F7F5FC"/>
                </a:solidFill>
                <a:latin typeface="Aptos"/>
              </a:rP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1993392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7F5FC"/>
                </a:solidFill>
                <a:latin typeface="Aptos"/>
              </a:rPr>
              <a:t>299 ₽/мес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97480"/>
            <a:ext cx="21488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A69EB8"/>
                </a:solidFill>
                <a:latin typeface="Aptos"/>
              </a:rPr>
              <a:t>Основная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подписка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полный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каталог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премиальные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предложения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персональные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подборки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23560" y="1325880"/>
            <a:ext cx="2606040" cy="448056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88152" y="1572768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7F5FC"/>
                </a:solidFill>
                <a:latin typeface="Aptos"/>
              </a:rPr>
              <a:t>STUDENT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1993392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7F5FC"/>
                </a:solidFill>
                <a:latin typeface="Aptos"/>
              </a:rPr>
              <a:t>499 ₽/мес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697480"/>
            <a:ext cx="21488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A69EB8"/>
                </a:solidFill>
                <a:latin typeface="Aptos"/>
              </a:rPr>
              <a:t>Для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активных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пользователей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всё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из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Student
•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эксклюзивные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предложения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ранний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доступ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66760" y="1325880"/>
            <a:ext cx="3200400" cy="448056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29016" y="1592334"/>
            <a:ext cx="2871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dirty="0">
                <a:solidFill>
                  <a:srgbClr val="F7F5FC"/>
                </a:solidFill>
                <a:latin typeface="Aptos"/>
              </a:rPr>
              <a:t>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1993392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7F5FC"/>
                </a:solidFill>
                <a:latin typeface="Aptos"/>
              </a:rPr>
              <a:t>2 490 ₽/год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697480"/>
            <a:ext cx="2743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A69EB8"/>
                </a:solidFill>
                <a:latin typeface="Aptos"/>
              </a:rPr>
              <a:t>Для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постоянных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пользователей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полный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доступ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на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год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эффективная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цена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≈ 208 ₽/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мес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ниже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отток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7F5FC"/>
                </a:solidFill>
                <a:latin typeface="Aptos"/>
              </a:rPr>
              <a:t>299 ₽ — рекомендуемая базовая цена: низкий порог входа для студента при возможности построить положительную unit-экономику.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9EB8"/>
                </a:solidFill>
                <a:latin typeface="Aptos"/>
              </a:rPr>
              <a:t>STUDENT PASS  •  Бизнес-модель проекта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69EB8"/>
                </a:solidFill>
                <a:latin typeface="Aptos"/>
              </a:rPr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789920" y="5303520"/>
            <a:ext cx="1737360" cy="173736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-731520" y="5394960"/>
            <a:ext cx="1371600" cy="137160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" y="1078992"/>
            <a:ext cx="960120" cy="32004"/>
          </a:xfrm>
          <a:prstGeom prst="rect">
            <a:avLst/>
          </a:prstGeom>
          <a:solidFill>
            <a:srgbClr val="9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4400" y="1554480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1600200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" y="1517904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63240" y="1562542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dirty="0">
                <a:solidFill>
                  <a:srgbClr val="974CFF"/>
                </a:solidFill>
                <a:latin typeface="Aptos Display"/>
              </a:rPr>
              <a:t>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24144" y="1536192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79008" y="1587664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dirty="0">
                <a:solidFill>
                  <a:srgbClr val="974CFF"/>
                </a:solidFill>
                <a:latin typeface="Aptos Display"/>
              </a:rPr>
              <a:t>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59368" y="1554480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0" y="1572768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dirty="0">
                <a:solidFill>
                  <a:srgbClr val="974CFF"/>
                </a:solidFill>
                <a:latin typeface="Aptos Display"/>
              </a:rPr>
              <a:t>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9144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5FC"/>
                </a:solidFill>
                <a:latin typeface="Aptos"/>
              </a:rPr>
              <a:t>Монетизация партнёров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4679"/>
            <a:ext cx="1078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A69EB8"/>
                </a:solidFill>
                <a:latin typeface="Aptos"/>
              </a:rPr>
              <a:t>Вторая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опора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экономики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52628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52628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35799" y="1576504"/>
            <a:ext cx="3063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5FC"/>
                </a:solidFill>
                <a:latin typeface="Aptos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0632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A69EB8"/>
                </a:solidFill>
                <a:latin typeface="Aptos"/>
              </a:rPr>
              <a:t>5 000 ₽/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мес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
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Размещение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в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каталоге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Базовая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карточка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Одно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предложение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
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Статистика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просмотров</a:t>
            </a:r>
            <a:endParaRPr sz="13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61688" y="1325880"/>
            <a:ext cx="3474720" cy="452628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61688" y="1325880"/>
            <a:ext cx="73152" cy="452628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34357" y="1618488"/>
            <a:ext cx="3063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F7F5FC"/>
                </a:solidFill>
                <a:latin typeface="Aptos"/>
              </a:rPr>
              <a:t>GROW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5884" y="2179664"/>
            <a:ext cx="306323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A69EB8"/>
                </a:solidFill>
                <a:latin typeface="Aptos"/>
              </a:rPr>
              <a:t>15 000 ₽/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мес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
Приоритет в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каталоге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
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Несколько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предложений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
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Рассылки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при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наличии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
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Расширенная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аналитика</a:t>
            </a:r>
            <a:endParaRPr sz="13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83296" y="1325880"/>
            <a:ext cx="3474720" cy="452628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83296" y="1325880"/>
            <a:ext cx="73152" cy="452628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11616" y="1593170"/>
            <a:ext cx="3063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F7F5FC"/>
                </a:solidFill>
                <a:latin typeface="Aptos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1" y="2194560"/>
            <a:ext cx="306323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A69EB8"/>
                </a:solidFill>
                <a:latin typeface="Aptos"/>
              </a:rPr>
              <a:t>30 000 ₽/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мес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
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Премиальное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размещение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
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Кампании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и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спецпроекты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
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Аудиторные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сегменты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
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Расширенная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аналитика</a:t>
            </a:r>
            <a:endParaRPr sz="13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5989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69EB8"/>
                </a:solidFill>
                <a:latin typeface="Aptos"/>
              </a:rPr>
              <a:t>На старте допустим пилот по сниженной цене в обмен на кейс и подтверждённые показатели конверсии.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9EB8"/>
                </a:solidFill>
                <a:latin typeface="Aptos"/>
              </a:rPr>
              <a:t>STUDENT PASS  •  Бизнес-модель проекта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69EB8"/>
                </a:solidFill>
                <a:latin typeface="Aptos"/>
              </a:rPr>
              <a:t>9</a:t>
            </a:r>
          </a:p>
        </p:txBody>
      </p:sp>
      <p:sp>
        <p:nvSpPr>
          <p:cNvPr id="21" name="Oval 20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89920" y="5303520"/>
            <a:ext cx="1737360" cy="173736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-731520" y="5394960"/>
            <a:ext cx="1371600" cy="137160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1227533"/>
            <a:ext cx="960120" cy="32004"/>
          </a:xfrm>
          <a:prstGeom prst="rect">
            <a:avLst/>
          </a:prstGeom>
          <a:solidFill>
            <a:srgbClr val="9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4889" y="1478329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3344" y="1419139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dirty="0">
                <a:solidFill>
                  <a:srgbClr val="974CFF"/>
                </a:solidFill>
                <a:latin typeface="Aptos Display"/>
              </a:rPr>
              <a:t>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1627632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1673352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1627632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20" y="1673352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5FC"/>
                </a:solidFill>
                <a:latin typeface="Aptos"/>
              </a:rPr>
              <a:t>Финансовый прогноз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9EB8"/>
                </a:solidFill>
                <a:latin typeface="Aptos"/>
              </a:rPr>
              <a:t>Базовый сценарий — без агрессивного роста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429768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29768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53312" y="153166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F7F5FC"/>
                </a:solidFill>
                <a:latin typeface="Aptos"/>
              </a:rPr>
              <a:t>Год</a:t>
            </a:r>
            <a:r>
              <a:rPr sz="1800" b="1" dirty="0">
                <a:solidFill>
                  <a:srgbClr val="F7F5FC"/>
                </a:solidFill>
                <a:latin typeface="Aptos"/>
              </a:rPr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8740" y="2066937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A69EB8"/>
                </a:solidFill>
                <a:latin typeface="Aptos"/>
              </a:rPr>
              <a:t>Платные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пользователи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: 5 000
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Подписка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: 17,9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млн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₽
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Ориентир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маржинального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вклада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:
≈ 2,5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млн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₽
B2B-выручка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не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A69EB8"/>
                </a:solidFill>
                <a:latin typeface="Aptos"/>
              </a:rPr>
              <a:t>включена</a:t>
            </a:r>
            <a:r>
              <a:rPr sz="1300" b="0" dirty="0">
                <a:solidFill>
                  <a:srgbClr val="A69EB8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29000" cy="429768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429768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0" y="1586533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F7F5FC"/>
                </a:solidFill>
                <a:latin typeface="Aptos"/>
              </a:rPr>
              <a:t>Год</a:t>
            </a:r>
            <a:r>
              <a:rPr sz="1800" b="1" dirty="0">
                <a:solidFill>
                  <a:srgbClr val="F7F5FC"/>
                </a:solidFill>
                <a:latin typeface="Aptos"/>
              </a:rPr>
              <a:t>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75688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9EB8"/>
                </a:solidFill>
                <a:latin typeface="Aptos"/>
              </a:rPr>
              <a:t>Платные пользователи: 15 000
Подписка: 53,8 млн ₽
Ориентир маржинального вклада:
≈ 11 млн ₽
B2B-выручка не включена.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429000" cy="4297680"/>
          </a:xfrm>
          <a:prstGeom prst="round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73152" cy="429768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36354" y="1586533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F7F5FC"/>
                </a:solidFill>
                <a:latin typeface="Aptos"/>
              </a:rPr>
              <a:t>Год</a:t>
            </a:r>
            <a:r>
              <a:rPr sz="1800" b="1" dirty="0">
                <a:solidFill>
                  <a:srgbClr val="F7F5FC"/>
                </a:solidFill>
                <a:latin typeface="Aptos"/>
              </a:rPr>
              <a:t>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075688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9EB8"/>
                </a:solidFill>
                <a:latin typeface="Aptos"/>
              </a:rPr>
              <a:t>Платные пользователи: 35 000
Подписка: 125,6 млн ₽
Ориентир маржинального вклада:
≈ 32 млн ₽
B2B-выручка не включена.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9EB8"/>
                </a:solidFill>
                <a:latin typeface="Aptos"/>
              </a:rPr>
              <a:t>Расчёт ориентирован на 299 ₽/мес. Фактический результат зависит от удержания, сезонности и доли годовых тарифов.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9EB8"/>
                </a:solidFill>
                <a:latin typeface="Aptos"/>
              </a:rPr>
              <a:t>STUDENT PASS  •  Бизнес-модель проекта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69EB8"/>
                </a:solidFill>
                <a:latin typeface="Aptos"/>
              </a:rPr>
              <a:t>12</a:t>
            </a:r>
          </a:p>
        </p:txBody>
      </p:sp>
      <p:sp>
        <p:nvSpPr>
          <p:cNvPr id="21" name="Oval 20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89920" y="5303520"/>
            <a:ext cx="1737360" cy="173736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-731520" y="5394960"/>
            <a:ext cx="1371600" cy="137160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1179576"/>
            <a:ext cx="960120" cy="32004"/>
          </a:xfrm>
          <a:prstGeom prst="rect">
            <a:avLst/>
          </a:prstGeom>
          <a:solidFill>
            <a:srgbClr val="9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3534" y="1585157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727448" y="1517904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50826" y="1556840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5FC"/>
                </a:solidFill>
                <a:latin typeface="Aptos"/>
              </a:rPr>
              <a:t>Точка безубыточности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9EB8"/>
                </a:solidFill>
                <a:latin typeface="Aptos"/>
              </a:rPr>
              <a:t>Сколько платящих пользователей нужно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7F5FC"/>
                </a:solidFill>
                <a:latin typeface="Aptos"/>
              </a:rPr>
              <a:t>При постоянных расходах ≈ 1,2 млн ₽/мес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69EB8"/>
                </a:solidFill>
                <a:latin typeface="Aptos"/>
              </a:rPr>
              <a:t>и маржинальном вкладе ≈ 119 ₽ с подписчика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9718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7F5FC"/>
                </a:solidFill>
                <a:latin typeface="Aptos"/>
              </a:rPr>
              <a:t>≈ 10 100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2004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7F5FC"/>
                </a:solidFill>
                <a:latin typeface="Aptos"/>
              </a:rPr>
              <a:t>платящих пользователей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89204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69EB8"/>
                </a:solidFill>
                <a:latin typeface="Aptos"/>
              </a:rPr>
              <a:t>Это консервативная модель только подписочной выручки. B2B-доход снижает требуемое число платящих пользователей.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9EB8"/>
                </a:solidFill>
                <a:latin typeface="Aptos"/>
              </a:rPr>
              <a:t>STUDENT PASS  •  Бизнес-модель проекта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69EB8"/>
                </a:solidFill>
                <a:latin typeface="Aptos"/>
              </a:rPr>
              <a:t>13</a:t>
            </a:r>
          </a:p>
        </p:txBody>
      </p:sp>
      <p:sp>
        <p:nvSpPr>
          <p:cNvPr id="13" name="Oval 1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89920" y="5303520"/>
            <a:ext cx="1737360" cy="173736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-731520" y="5394960"/>
            <a:ext cx="1371600" cy="137160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1232105"/>
            <a:ext cx="960120" cy="32004"/>
          </a:xfrm>
          <a:prstGeom prst="rect">
            <a:avLst/>
          </a:prstGeom>
          <a:solidFill>
            <a:srgbClr val="9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29839" y="1435608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5FC"/>
                </a:solidFill>
                <a:latin typeface="Aptos"/>
              </a:rPr>
              <a:t>Маркетинг и рост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9EB8"/>
                </a:solidFill>
                <a:latin typeface="Aptos"/>
              </a:rPr>
              <a:t>Как получить первые 10 000 платных пользователей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" y="145389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7F5FC"/>
                </a:solidFill>
                <a:latin typeface="Aptos"/>
              </a:rPr>
              <a:t>Студенческие</a:t>
            </a:r>
            <a:r>
              <a:rPr sz="13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F7F5FC"/>
                </a:solidFill>
                <a:latin typeface="Aptos"/>
              </a:rPr>
              <a:t>амбассадоры</a:t>
            </a:r>
            <a:endParaRPr sz="1300" b="1" dirty="0">
              <a:solidFill>
                <a:srgbClr val="F7F5F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9080" y="12984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7F5FC"/>
                </a:solidFill>
                <a:latin typeface="Aptos"/>
              </a:rPr>
              <a:t>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298448"/>
            <a:ext cx="5669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A69EB8"/>
                </a:solidFill>
                <a:latin typeface="Aptos"/>
              </a:rPr>
              <a:t>Кампусные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команды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рефералы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промокоды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87145" y="212598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7F5FC"/>
                </a:solidFill>
                <a:latin typeface="Aptos"/>
              </a:rPr>
              <a:t>Партнёрский</a:t>
            </a:r>
            <a:r>
              <a:rPr sz="13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F7F5FC"/>
                </a:solidFill>
                <a:latin typeface="Aptos"/>
              </a:rPr>
              <a:t>трафик</a:t>
            </a:r>
            <a:endParaRPr sz="1300" b="1" dirty="0">
              <a:solidFill>
                <a:srgbClr val="F7F5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69080" y="20756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7F5FC"/>
                </a:solidFill>
                <a:latin typeface="Aptos"/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075688"/>
            <a:ext cx="5669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A69EB8"/>
                </a:solidFill>
                <a:latin typeface="Aptos"/>
              </a:rPr>
              <a:t>Бизнес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приводит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свою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аудиторию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94460" y="28346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7F5FC"/>
                </a:solidFill>
                <a:latin typeface="Aptos"/>
              </a:rPr>
              <a:t>Социальные</a:t>
            </a:r>
            <a:r>
              <a:rPr sz="13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F7F5FC"/>
                </a:solidFill>
                <a:latin typeface="Aptos"/>
              </a:rPr>
              <a:t>сети</a:t>
            </a:r>
            <a:endParaRPr sz="1300" b="1" dirty="0">
              <a:solidFill>
                <a:srgbClr val="F7F5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9080" y="285292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7F5FC"/>
                </a:solidFill>
                <a:latin typeface="Aptos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852928"/>
            <a:ext cx="5669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A69EB8"/>
                </a:solidFill>
                <a:latin typeface="Aptos"/>
              </a:rPr>
              <a:t>UGC,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короткие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видео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полезный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контент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87145" y="343037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7F5FC"/>
                </a:solidFill>
                <a:latin typeface="Aptos"/>
              </a:rPr>
              <a:t>Вузы</a:t>
            </a:r>
            <a:r>
              <a:rPr sz="1300" b="1" dirty="0">
                <a:solidFill>
                  <a:srgbClr val="F7F5FC"/>
                </a:solidFill>
                <a:latin typeface="Aptos"/>
              </a:rPr>
              <a:t> и </a:t>
            </a:r>
            <a:r>
              <a:rPr sz="1300" b="1" dirty="0" err="1">
                <a:solidFill>
                  <a:srgbClr val="F7F5FC"/>
                </a:solidFill>
                <a:latin typeface="Aptos"/>
              </a:rPr>
              <a:t>организации</a:t>
            </a:r>
            <a:endParaRPr sz="1300" b="1" dirty="0">
              <a:solidFill>
                <a:srgbClr val="F7F5F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69080" y="363016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7F5FC"/>
                </a:solidFill>
                <a:latin typeface="Aptos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630168"/>
            <a:ext cx="5669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A69EB8"/>
                </a:solidFill>
                <a:latin typeface="Aptos"/>
              </a:rPr>
              <a:t>Коллаборации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и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пакетное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подключение</a:t>
            </a:r>
            <a:endParaRPr sz="16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94460" y="407365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7F5FC"/>
                </a:solidFill>
                <a:latin typeface="Aptos"/>
              </a:rPr>
              <a:t>Реферальная</a:t>
            </a:r>
            <a:r>
              <a:rPr sz="13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F7F5FC"/>
                </a:solidFill>
                <a:latin typeface="Aptos"/>
              </a:rPr>
              <a:t>программа</a:t>
            </a:r>
            <a:endParaRPr sz="1300" b="1" dirty="0">
              <a:solidFill>
                <a:srgbClr val="F7F5F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69080" y="44074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7F5FC"/>
                </a:solidFill>
                <a:latin typeface="Aptos"/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407408"/>
            <a:ext cx="5669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A69EB8"/>
                </a:solidFill>
                <a:latin typeface="Aptos"/>
              </a:rPr>
              <a:t>«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Пригласи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друга</a:t>
            </a:r>
            <a:r>
              <a:rPr sz="1600" b="0" dirty="0">
                <a:solidFill>
                  <a:srgbClr val="A69EB8"/>
                </a:solidFill>
                <a:latin typeface="Aptos"/>
              </a:rPr>
              <a:t>» и </a:t>
            </a:r>
            <a:r>
              <a:rPr sz="1600" b="0" dirty="0" err="1">
                <a:solidFill>
                  <a:srgbClr val="A69EB8"/>
                </a:solidFill>
                <a:latin typeface="Aptos"/>
              </a:rPr>
              <a:t>бонусы</a:t>
            </a:r>
            <a:endParaRPr sz="11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7F5FC"/>
                </a:solidFill>
                <a:latin typeface="Aptos"/>
              </a:rPr>
              <a:t>Сначала дешёвое органическое распространение, затем масштабирование платной рекламы после подтверждения retention.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9EB8"/>
                </a:solidFill>
                <a:latin typeface="Aptos"/>
              </a:rPr>
              <a:t>STUDENT PASS  •  Бизнес-модель проекта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69EB8"/>
                </a:solidFill>
                <a:latin typeface="Aptos"/>
              </a:rPr>
              <a:t>14</a:t>
            </a:r>
          </a:p>
        </p:txBody>
      </p:sp>
      <p:sp>
        <p:nvSpPr>
          <p:cNvPr id="24" name="Oval 23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789920" y="5303520"/>
            <a:ext cx="1737360" cy="173736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-731520" y="5394960"/>
            <a:ext cx="1371600" cy="137160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1177290"/>
            <a:ext cx="960120" cy="32004"/>
          </a:xfrm>
          <a:prstGeom prst="rect">
            <a:avLst/>
          </a:prstGeom>
          <a:solidFill>
            <a:srgbClr val="9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2960" y="1417320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1463040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057400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2103120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2697480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2743200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337559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383279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3977639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4023359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7F5FC"/>
                </a:solidFill>
                <a:latin typeface="Aptos"/>
              </a:rPr>
              <a:t>Финансирование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2080" y="134407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dirty="0">
                <a:solidFill>
                  <a:srgbClr val="F7F5FC"/>
                </a:solidFill>
                <a:latin typeface="Aptos"/>
              </a:rPr>
              <a:t>≈ 8 </a:t>
            </a:r>
            <a:r>
              <a:rPr sz="3800" b="1" dirty="0" err="1">
                <a:solidFill>
                  <a:srgbClr val="F7F5FC"/>
                </a:solidFill>
                <a:latin typeface="Aptos"/>
              </a:rPr>
              <a:t>млн</a:t>
            </a:r>
            <a:r>
              <a:rPr sz="3800" b="1" dirty="0">
                <a:solidFill>
                  <a:srgbClr val="F7F5FC"/>
                </a:solidFill>
                <a:latin typeface="Aptos"/>
              </a:rPr>
              <a:t> ₽ </a:t>
            </a:r>
            <a:r>
              <a:rPr sz="3800" b="1" dirty="0" err="1">
                <a:solidFill>
                  <a:srgbClr val="F7F5FC"/>
                </a:solidFill>
                <a:latin typeface="Aptos"/>
              </a:rPr>
              <a:t>на</a:t>
            </a:r>
            <a:r>
              <a:rPr sz="38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3800" b="1" dirty="0" err="1">
                <a:solidFill>
                  <a:srgbClr val="F7F5FC"/>
                </a:solidFill>
                <a:latin typeface="Aptos"/>
              </a:rPr>
              <a:t>первый</a:t>
            </a:r>
            <a:r>
              <a:rPr sz="38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3800" b="1" dirty="0" err="1">
                <a:solidFill>
                  <a:srgbClr val="F7F5FC"/>
                </a:solidFill>
                <a:latin typeface="Aptos"/>
              </a:rPr>
              <a:t>этап</a:t>
            </a:r>
            <a:endParaRPr sz="3800" b="1" dirty="0">
              <a:solidFill>
                <a:srgbClr val="F7F5F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8448" y="21137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F7F5FC"/>
                </a:solidFill>
                <a:latin typeface="Aptos"/>
              </a:rPr>
              <a:t>Куда</a:t>
            </a:r>
            <a:r>
              <a:rPr sz="16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7F5FC"/>
                </a:solidFill>
                <a:latin typeface="Aptos"/>
              </a:rPr>
              <a:t>направляются</a:t>
            </a:r>
            <a:r>
              <a:rPr sz="16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7F5FC"/>
                </a:solidFill>
                <a:latin typeface="Aptos"/>
              </a:rPr>
              <a:t>средства</a:t>
            </a:r>
            <a:endParaRPr sz="1600" b="1" dirty="0">
              <a:solidFill>
                <a:srgbClr val="F7F5F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98448" y="277977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A69EB8"/>
                </a:solidFill>
                <a:latin typeface="Aptos"/>
              </a:rPr>
              <a:t>Разработка</a:t>
            </a:r>
            <a:r>
              <a:rPr sz="1200" b="0" dirty="0">
                <a:solidFill>
                  <a:srgbClr val="A69EB8"/>
                </a:solidFill>
                <a:latin typeface="Aptos"/>
              </a:rPr>
              <a:t> и </a:t>
            </a:r>
            <a:r>
              <a:rPr sz="1200" b="0" dirty="0" err="1">
                <a:solidFill>
                  <a:srgbClr val="A69EB8"/>
                </a:solidFill>
                <a:latin typeface="Aptos"/>
              </a:rPr>
              <a:t>продукт</a:t>
            </a:r>
            <a:endParaRPr sz="12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4340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7F5FC"/>
                </a:solidFill>
                <a:latin typeface="Aptos"/>
              </a:rPr>
              <a:t>3,0 млн 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24690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9EB8"/>
                </a:solidFill>
                <a:latin typeface="Aptos"/>
              </a:rPr>
              <a:t>Маркетинг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227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7F5FC"/>
                </a:solidFill>
                <a:latin typeface="Aptos"/>
              </a:rPr>
              <a:t>1,8 млн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667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A69EB8"/>
                </a:solidFill>
                <a:latin typeface="Aptos"/>
              </a:rPr>
              <a:t>Продажи</a:t>
            </a:r>
            <a:r>
              <a:rPr sz="1200" b="0" dirty="0">
                <a:solidFill>
                  <a:srgbClr val="A69EB8"/>
                </a:solidFill>
                <a:latin typeface="Aptos"/>
              </a:rPr>
              <a:t> B2B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6667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7F5FC"/>
                </a:solidFill>
                <a:latin typeface="Aptos"/>
              </a:rPr>
              <a:t>0,9 млн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1056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A69EB8"/>
                </a:solidFill>
                <a:latin typeface="Aptos"/>
              </a:rPr>
              <a:t>Инфраструктура</a:t>
            </a:r>
            <a:endParaRPr sz="12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43400" y="41056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7F5FC"/>
                </a:solidFill>
                <a:latin typeface="Aptos"/>
              </a:rPr>
              <a:t>0,6 млн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2080" y="456492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A69EB8"/>
                </a:solidFill>
                <a:latin typeface="Aptos"/>
              </a:rPr>
              <a:t>Поддержка</a:t>
            </a:r>
            <a:endParaRPr sz="12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43400" y="4544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7F5FC"/>
                </a:solidFill>
                <a:latin typeface="Aptos"/>
              </a:rPr>
              <a:t>0,6 млн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8671" y="4992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A69EB8"/>
                </a:solidFill>
                <a:latin typeface="Aptos"/>
              </a:rPr>
              <a:t>Дизайн</a:t>
            </a:r>
            <a:r>
              <a:rPr sz="1200" b="0" dirty="0">
                <a:solidFill>
                  <a:srgbClr val="A69EB8"/>
                </a:solidFill>
                <a:latin typeface="Aptos"/>
              </a:rPr>
              <a:t>/</a:t>
            </a:r>
            <a:r>
              <a:rPr sz="1200" b="0" dirty="0" err="1">
                <a:solidFill>
                  <a:srgbClr val="A69EB8"/>
                </a:solidFill>
                <a:latin typeface="Aptos"/>
              </a:rPr>
              <a:t>контент</a:t>
            </a:r>
            <a:r>
              <a:rPr sz="1200" b="0" dirty="0">
                <a:solidFill>
                  <a:srgbClr val="A69EB8"/>
                </a:solidFill>
                <a:latin typeface="Aptos"/>
              </a:rPr>
              <a:t>/</a:t>
            </a:r>
            <a:r>
              <a:rPr sz="1200" b="0" dirty="0" err="1">
                <a:solidFill>
                  <a:srgbClr val="A69EB8"/>
                </a:solidFill>
                <a:latin typeface="Aptos"/>
              </a:rPr>
              <a:t>прочее</a:t>
            </a:r>
            <a:endParaRPr sz="1200" b="0" dirty="0">
              <a:solidFill>
                <a:srgbClr val="A69EB8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4983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7F5FC"/>
                </a:solidFill>
                <a:latin typeface="Aptos"/>
              </a:rPr>
              <a:t>0,9 млн 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5FC"/>
                </a:solidFill>
                <a:latin typeface="Aptos"/>
              </a:rPr>
              <a:t>Цель инвестиций: доказать product-market fit, собрать партнёрскую сеть и выйти на устойчивую повторяющуюся выручку.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83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5FC"/>
                </a:solidFill>
                <a:latin typeface="Aptos"/>
              </a:rPr>
              <a:t>Не масштабируем рекламу до подтверждения retention и unit-экономики.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9EB8"/>
                </a:solidFill>
                <a:latin typeface="Aptos"/>
              </a:rPr>
              <a:t>STUDENT PASS  •  Бизнес-модель проекта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69EB8"/>
                </a:solidFill>
                <a:latin typeface="Aptos"/>
              </a:rPr>
              <a:t>18</a:t>
            </a:r>
          </a:p>
        </p:txBody>
      </p:sp>
      <p:sp>
        <p:nvSpPr>
          <p:cNvPr id="23" name="Oval 2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789920" y="5303520"/>
            <a:ext cx="1737360" cy="173736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-731520" y="5394960"/>
            <a:ext cx="1371600" cy="137160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1078992"/>
            <a:ext cx="960120" cy="32004"/>
          </a:xfrm>
          <a:prstGeom prst="rect">
            <a:avLst/>
          </a:prstGeom>
          <a:solidFill>
            <a:srgbClr val="9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" y="1417320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1463040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2057400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2103120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2697480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2743200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3337559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3383279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3977639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023359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617720"/>
            <a:ext cx="475488" cy="475488"/>
          </a:xfrm>
          <a:prstGeom prst="roundRect">
            <a:avLst/>
          </a:prstGeom>
          <a:solidFill>
            <a:srgbClr val="974CFF"/>
          </a:solidFill>
          <a:ln>
            <a:solidFill>
              <a:srgbClr val="9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4663440"/>
            <a:ext cx="475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74CFF"/>
                </a:solidFill>
                <a:latin typeface="Aptos Display"/>
              </a:rPr>
              <a:t>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F5FC"/>
                </a:solidFill>
                <a:latin typeface="Aptos"/>
              </a:rPr>
              <a:t>STUDENT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 err="1">
                <a:solidFill>
                  <a:srgbClr val="F7F5FC"/>
                </a:solidFill>
                <a:latin typeface="Aptos"/>
              </a:rPr>
              <a:t>Не</a:t>
            </a:r>
            <a:r>
              <a:rPr sz="36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3600" b="1" dirty="0" err="1">
                <a:solidFill>
                  <a:srgbClr val="F7F5FC"/>
                </a:solidFill>
                <a:latin typeface="Aptos"/>
              </a:rPr>
              <a:t>просто</a:t>
            </a:r>
            <a:r>
              <a:rPr sz="36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3600" b="1" dirty="0" err="1">
                <a:solidFill>
                  <a:srgbClr val="F7F5FC"/>
                </a:solidFill>
                <a:latin typeface="Aptos"/>
              </a:rPr>
              <a:t>скидка</a:t>
            </a:r>
            <a:r>
              <a:rPr sz="3600" b="1" dirty="0">
                <a:solidFill>
                  <a:srgbClr val="F7F5FC"/>
                </a:solidFill>
                <a:latin typeface="Aptos"/>
              </a:rPr>
              <a:t>.
</a:t>
            </a:r>
            <a:r>
              <a:rPr sz="3600" b="1" dirty="0" err="1">
                <a:solidFill>
                  <a:srgbClr val="F7F5FC"/>
                </a:solidFill>
                <a:latin typeface="Aptos"/>
              </a:rPr>
              <a:t>Студенческая</a:t>
            </a:r>
            <a:r>
              <a:rPr sz="3600" b="1" dirty="0">
                <a:solidFill>
                  <a:srgbClr val="F7F5FC"/>
                </a:solidFill>
                <a:latin typeface="Aptos"/>
              </a:rPr>
              <a:t> </a:t>
            </a:r>
            <a:r>
              <a:rPr sz="3600" b="1" dirty="0" err="1">
                <a:solidFill>
                  <a:srgbClr val="F7F5FC"/>
                </a:solidFill>
                <a:latin typeface="Aptos"/>
              </a:rPr>
              <a:t>экосистема</a:t>
            </a:r>
            <a:r>
              <a:rPr sz="3600" b="1" dirty="0">
                <a:solidFill>
                  <a:srgbClr val="F7F5FC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9966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69EB8"/>
                </a:solidFill>
                <a:latin typeface="Aptos"/>
              </a:rPr>
              <a:t>Подписка создаёт регулярную выручку.
Партнёры создают дополнительную монетизацию.
Сетевая модель создаёт потенциал масштабирования.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4424" y="59207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5FC"/>
                </a:solidFill>
                <a:latin typeface="Aptos"/>
              </a:rPr>
              <a:t>Спасибо за внимание!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69EB8"/>
                </a:solidFill>
                <a:latin typeface="Aptos"/>
              </a:rPr>
              <a:t>STUDENT PASS  •  Бизнес-модель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69EB8"/>
                </a:solidFill>
                <a:latin typeface="Aptos"/>
              </a:rPr>
              <a:t>20</a:t>
            </a:r>
          </a:p>
        </p:txBody>
      </p:sp>
      <p:sp>
        <p:nvSpPr>
          <p:cNvPr id="11" name="Oval 10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Oval 11"/>
          <p:cNvSpPr/>
          <p:nvPr/>
        </p:nvSpPr>
        <p:spPr>
          <a:xfrm>
            <a:off x="10789920" y="5303520"/>
            <a:ext cx="1737360" cy="173736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-731520" y="5394960"/>
            <a:ext cx="1371600" cy="1371600"/>
          </a:xfrm>
          <a:prstGeom prst="ellipse">
            <a:avLst/>
          </a:prstGeom>
          <a:solidFill>
            <a:srgbClr val="110F18"/>
          </a:solidFill>
          <a:ln>
            <a:solidFill>
              <a:srgbClr val="3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3342" y="1208557"/>
            <a:ext cx="960120" cy="32004"/>
          </a:xfrm>
          <a:prstGeom prst="rect">
            <a:avLst/>
          </a:prstGeom>
          <a:solidFill>
            <a:srgbClr val="9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</TotalTime>
  <Words>1005</Words>
  <Application>Microsoft Office PowerPoint</Application>
  <PresentationFormat>Широкоэкранный</PresentationFormat>
  <Paragraphs>192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Arial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mv 293</cp:lastModifiedBy>
  <cp:revision>3</cp:revision>
  <dcterms:created xsi:type="dcterms:W3CDTF">2013-01-27T09:14:16Z</dcterms:created>
  <dcterms:modified xsi:type="dcterms:W3CDTF">2026-10-08T18:26:54Z</dcterms:modified>
  <cp:category/>
</cp:coreProperties>
</file>